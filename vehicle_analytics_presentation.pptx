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F4900C"/>
          </a:solidFill>
          <a:ln w="12700">
            <a:solidFill>
              <a:srgbClr val="F490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Used Vehicle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Analytics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 batch &amp; streaming data‑engineering solution to transform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marketplace listings into business‑ready analytics.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526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Ranjan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4407408"/>
            <a:ext cx="1737360" cy="256032"/>
          </a:xfrm>
          <a:prstGeom prst="rect">
            <a:avLst/>
          </a:prstGeom>
          <a:solidFill>
            <a:srgbClr val="F4900C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242K+ Listings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8040" y="4407408"/>
            <a:ext cx="1737360" cy="256032"/>
          </a:xfrm>
          <a:prstGeom prst="rect">
            <a:avLst/>
          </a:prstGeom>
          <a:solidFill>
            <a:srgbClr val="F4900C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Bronze→Silver→Gold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0" y="4727448"/>
            <a:ext cx="1737360" cy="256032"/>
          </a:xfrm>
          <a:prstGeom prst="rect">
            <a:avLst/>
          </a:prstGeom>
          <a:solidFill>
            <a:srgbClr val="F4900C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8040" y="4727448"/>
            <a:ext cx="1737360" cy="256032"/>
          </a:xfrm>
          <a:prstGeom prst="rect">
            <a:avLst/>
          </a:prstGeom>
          <a:solidFill>
            <a:srgbClr val="F4900C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07008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3E0"/>
          </a:solidFill>
          <a:ln w="9525">
            <a:solidFill>
              <a:srgbClr val="F4900C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Challenge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vehicle marketplaces produce high‑velocity, messy listing data: missing values, duplicates, inconsistent categories, invalid prices and noisy text — unsuitable for direct analysis.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07008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E3F2FD"/>
          </a:solidFill>
          <a:ln w="9525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155448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 pipeline to clean, validate and feature‑engineer listings; enable real‑time processing; centralise analytical data; automate workflows; and deliver Tableau dashboards for business users.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26334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670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" y="2724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Spark on HDFS handles 240K+ records across 50 states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2633472" cy="64008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2578608"/>
            <a:ext cx="26334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670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40480" y="2724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3108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PERMISSIVE mode, logging &amp; Airflow alerts ensure recovery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4846320"/>
            <a:ext cx="2633472" cy="64008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2578608"/>
            <a:ext cx="26334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2670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629400" y="2724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3108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Kafka + Spark Streaming for near real‑time analytics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4846320"/>
            <a:ext cx="2633472" cy="64008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395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distributed tools across every layer of the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70432"/>
            <a:ext cx="2011680" cy="3767328"/>
          </a:xfrm>
          <a:prstGeom prst="roundRect">
            <a:avLst>
              <a:gd name="adj" fmla="val 3636"/>
            </a:avLst>
          </a:prstGeom>
          <a:solidFill>
            <a:srgbClr val="E3F2FD"/>
          </a:solidFill>
          <a:ln w="9525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618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Compute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2011680" cy="27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28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HDFS — raw storage &amp; Bronze layer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Apache Spark / Spark SQL — batch &amp; streaming ETL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Databricks — cloud-native Spark processing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8862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PySpark with Window &amp; broadcast functions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1170432"/>
            <a:ext cx="2011680" cy="3767328"/>
          </a:xfrm>
          <a:prstGeom prst="roundRect">
            <a:avLst>
              <a:gd name="adj" fmla="val 3636"/>
            </a:avLst>
          </a:prstGeom>
          <a:solidFill>
            <a:srgbClr val="E0F7FA"/>
          </a:solidFill>
          <a:ln w="9525">
            <a:solidFill>
              <a:srgbClr val="006064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12618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Query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1737360"/>
            <a:ext cx="2011680" cy="2743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828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Apache Hive — Gold layer external tables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60320" y="25146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Spark SQL — in-pipeline SQL transformations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32004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— orchestration &amp; custom transformations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0" y="38862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Parquet — columnar storage format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170432"/>
            <a:ext cx="2011680" cy="3767328"/>
          </a:xfrm>
          <a:prstGeom prst="roundRect">
            <a:avLst>
              <a:gd name="adj" fmla="val 3636"/>
            </a:avLst>
          </a:prstGeom>
          <a:solidFill>
            <a:srgbClr val="FFEBEE"/>
          </a:solidFill>
          <a:ln w="9525">
            <a:solidFill>
              <a:srgbClr val="B71C1C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12618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Orchestration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737360"/>
            <a:ext cx="2011680" cy="2743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828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Apache Kafka + Confluent Cloud — message bus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25146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Spark Structured Streaming — consumer pipeline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32004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Apache Airflow — DAG scheduling &amp; SLAs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38862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DLT (Delta Live Tables) on Databricks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1170432"/>
            <a:ext cx="2011680" cy="3767328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 w="9525">
            <a:solidFill>
              <a:srgbClr val="1B5E20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12618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1737360"/>
            <a:ext cx="2011680" cy="274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18288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Tableau — executive &amp; price intelligence dashboards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0" y="25146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Interactive KPIs, maps &amp; drilldown filters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32004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Precomputed extracts for fast exploration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0" y="388620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Near real‑time tiles from streaming aggregates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batch + streaming design: raw CSV → Bronze → Silver → Featured → Gold → Hive → Tableau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1207008"/>
            <a:ext cx="1078992" cy="1170432"/>
          </a:xfrm>
          <a:prstGeom prst="roundRect">
            <a:avLst>
              <a:gd name="adj" fmla="val 5932"/>
            </a:avLst>
          </a:prstGeom>
          <a:solidFill>
            <a:srgbClr val="253B55"/>
          </a:solidFill>
          <a:ln w="19050">
            <a:solidFill>
              <a:srgbClr val="7890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" y="12527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" y="17373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Craigslist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25880" y="1755648"/>
            <a:ext cx="146304" cy="36576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9" name="Text 7"/>
          <p:cNvSpPr/>
          <p:nvPr/>
        </p:nvSpPr>
        <p:spPr>
          <a:xfrm>
            <a:off x="1444752" y="1714500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17320" y="1207008"/>
            <a:ext cx="1078992" cy="1170432"/>
          </a:xfrm>
          <a:prstGeom prst="roundRect">
            <a:avLst>
              <a:gd name="adj" fmla="val 5932"/>
            </a:avLst>
          </a:prstGeom>
          <a:solidFill>
            <a:srgbClr val="2A2200"/>
          </a:solidFill>
          <a:ln w="19050">
            <a:solidFill>
              <a:srgbClr val="F490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12527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53896" y="17373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HDFS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1755648"/>
            <a:ext cx="146304" cy="36576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14" name="Text 12"/>
          <p:cNvSpPr/>
          <p:nvPr/>
        </p:nvSpPr>
        <p:spPr>
          <a:xfrm>
            <a:off x="2633472" y="1714500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1207008"/>
            <a:ext cx="1078992" cy="1170432"/>
          </a:xfrm>
          <a:prstGeom prst="roundRect">
            <a:avLst>
              <a:gd name="adj" fmla="val 5932"/>
            </a:avLst>
          </a:prstGeom>
          <a:solidFill>
            <a:srgbClr val="0D2B4E"/>
          </a:solidFill>
          <a:ln w="19050">
            <a:solidFill>
              <a:srgbClr val="64B5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12527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42616" y="17373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03320" y="1755648"/>
            <a:ext cx="146304" cy="36576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19" name="Text 17"/>
          <p:cNvSpPr/>
          <p:nvPr/>
        </p:nvSpPr>
        <p:spPr>
          <a:xfrm>
            <a:off x="3822192" y="1714500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94760" y="1207008"/>
            <a:ext cx="1078992" cy="1170432"/>
          </a:xfrm>
          <a:prstGeom prst="roundRect">
            <a:avLst>
              <a:gd name="adj" fmla="val 5932"/>
            </a:avLst>
          </a:prstGeom>
          <a:solidFill>
            <a:srgbClr val="0D3330"/>
          </a:solidFill>
          <a:ln w="19050">
            <a:solidFill>
              <a:srgbClr val="80CB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31336" y="12527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31336" y="17373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Engineered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1755648"/>
            <a:ext cx="146304" cy="36576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24" name="Text 22"/>
          <p:cNvSpPr/>
          <p:nvPr/>
        </p:nvSpPr>
        <p:spPr>
          <a:xfrm>
            <a:off x="5010912" y="1714500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83480" y="1207008"/>
            <a:ext cx="1078992" cy="1170432"/>
          </a:xfrm>
          <a:prstGeom prst="roundRect">
            <a:avLst>
              <a:gd name="adj" fmla="val 5932"/>
            </a:avLst>
          </a:prstGeom>
          <a:solidFill>
            <a:srgbClr val="0B2B12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0056" y="12527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0056" y="17373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1755648"/>
            <a:ext cx="146304" cy="36576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29" name="Text 27"/>
          <p:cNvSpPr/>
          <p:nvPr/>
        </p:nvSpPr>
        <p:spPr>
          <a:xfrm>
            <a:off x="6199632" y="1714500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1207008"/>
            <a:ext cx="1078992" cy="1170432"/>
          </a:xfrm>
          <a:prstGeom prst="roundRect">
            <a:avLst>
              <a:gd name="adj" fmla="val 5932"/>
            </a:avLst>
          </a:prstGeom>
          <a:solidFill>
            <a:srgbClr val="1F0A2B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12527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08776" y="17373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9480" y="1755648"/>
            <a:ext cx="146304" cy="36576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34" name="Text 32"/>
          <p:cNvSpPr/>
          <p:nvPr/>
        </p:nvSpPr>
        <p:spPr>
          <a:xfrm>
            <a:off x="7388352" y="1714500"/>
            <a:ext cx="128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60920" y="1207008"/>
            <a:ext cx="1078992" cy="1170432"/>
          </a:xfrm>
          <a:prstGeom prst="roundRect">
            <a:avLst>
              <a:gd name="adj" fmla="val 5932"/>
            </a:avLst>
          </a:prstGeom>
          <a:solidFill>
            <a:srgbClr val="2A1500"/>
          </a:solidFill>
          <a:ln w="19050">
            <a:solidFill>
              <a:srgbClr val="F490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97496" y="125272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97496" y="17373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KPIs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417320" y="25420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ETL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417320" y="2788920"/>
            <a:ext cx="3337560" cy="27432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40" name="Shape 38"/>
          <p:cNvSpPr/>
          <p:nvPr/>
        </p:nvSpPr>
        <p:spPr>
          <a:xfrm>
            <a:off x="228600" y="2999232"/>
            <a:ext cx="8686800" cy="1965960"/>
          </a:xfrm>
          <a:prstGeom prst="roundRect">
            <a:avLst>
              <a:gd name="adj" fmla="val 4651"/>
            </a:avLst>
          </a:prstGeom>
          <a:solidFill>
            <a:srgbClr val="152842"/>
          </a:solidFill>
          <a:ln w="15240">
            <a:solidFill>
              <a:srgbClr val="00AC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0723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STREAMING TRACK (Databricks + Confluent Kafka)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3438144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0D2B3E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361188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(Databricks)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993392" y="393192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CC1"/>
                </a:solidFill>
              </a:rPr>
              <a:t>→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30552" y="3438144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0D2B3E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57984" y="361188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DLT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712464" y="393192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CC1"/>
                </a:solidFill>
              </a:rPr>
              <a:t>→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849624" y="3438144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0D2B3E"/>
          </a:solidFill>
          <a:ln w="12700">
            <a:solidFill>
              <a:srgbClr val="F4900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77056" y="361188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(Confluent)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31536" y="393192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CC1"/>
                </a:solidFill>
              </a:rPr>
              <a:t>→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68696" y="3438144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0D2B3E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96128" y="361188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DLT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50608" y="3931920"/>
            <a:ext cx="137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CC1"/>
                </a:solidFill>
              </a:rPr>
              <a:t>→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287768" y="3438144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0D2B3E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0" y="361188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749040" y="4553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SASL/SSL Auth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Featured layer transformations via Apache Spark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70432"/>
            <a:ext cx="39319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393192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0700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TRANSFORMATIONS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6733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Type Casting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8653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read as STRING; lat/long → double, posting_date → timestamp, price/year/odometer → numeric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2037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Strategy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3957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 dropped (county); Category B → "unknown"; odometer imputed via cascading window median (model → mfr → global)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72491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73405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Inference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9260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Model-name keyword lookup (MANUFACTURER_LOOKUP dict, 70+ entries) via Spark when/contains chains fills blank manufacturer fields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255264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2644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Mode Fill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4564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Window-ranked frequency count per mfr+model picks most common valid transmission; falls back to "automatic"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785616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Code Enrichment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9867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join of 51-row lookup converts state abbreviations (TX) to full names (Texas) — optimised small table join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315968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32511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Year Filters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5171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0; Year between 1980 and current_year+1; null year rows dropped. Fuzzy duplicate groups reported (not dropped)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1170432"/>
            <a:ext cx="434340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006064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1170432"/>
            <a:ext cx="4343400" cy="384048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1207008"/>
            <a:ext cx="4160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(13 Features)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17720" y="166420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19019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vehicle_age &amp; age_group (0–2 yrs → Nearly New, 15+ → Classic)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2148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price_category (5 tiers: Budget &lt; $5K → Luxury $75K+)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23957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mileage_category (5 tiers: Low &lt; 20K → Extreme 150K+)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264261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vehicle_segment (Passenger Car / SUV / Truck / Van / Wagon)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17720" y="29535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Metrics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319125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price_per_mile = price ÷ odometer (null if odo = 0)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343814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depreciation_index = price ÷ vehicle_age (null if age ≤ 0)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17720" y="37490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398678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posting_year, posting_month, posting_day, posting_weekday, posting_hour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42336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is_weekend (Sat/Sun), posting_period (Morning/Afternoon/Evening/Night)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17720" y="454456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47823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is_luxury (17 luxury brands), is_alternative_fuel (EV/hybrid)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09160" y="5029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is_automatic, is_salvage, clean_title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" y="4910328"/>
            <a:ext cx="3931920" cy="201168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Output: Parquet on HDFS, partitioned by state_name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480560" y="4910328"/>
            <a:ext cx="4343400" cy="201168"/>
          </a:xfrm>
          <a:prstGeom prst="rect">
            <a:avLst/>
          </a:prstGeom>
          <a:solidFill>
            <a:srgbClr val="E0F7F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Output: Silver Featured Parquet — 40+ columns ready for Hive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Data Warehouse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layer: aggregated, query‑optimised tables for analyst workflows and Tableau connectivity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External Tables?  —  Hive stores only metadata. Actual data stays in HDFS. DROP TABLE removes metadata only — data is never lost.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FFF3E0"/>
          </a:solidFill>
          <a:ln w="9525">
            <a:solidFill>
              <a:srgbClr val="F4900C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572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2788920" cy="27432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157984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KPIs for fast dashboarding.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· Median Mileage · Listing Velocity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per pipeline run. Powers Tableau headline cards.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900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avg_price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92224" y="3291840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900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median_mileage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621024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900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total_listings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92224" y="3621024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F4900C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listing_velocity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1481328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E3F2FD"/>
          </a:solidFill>
          <a:ln w="9525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01568" y="1572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886200" y="161848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&amp; State Summaries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084832"/>
            <a:ext cx="2788920" cy="27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3401568" y="2157984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by make, model, state and posting period for deep market analysis.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Pre-joined with state_name for geo filters.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3291840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by_manufacturer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18304" y="3291840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by_state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83280" y="3621024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by_model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18304" y="3621024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by_period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1481328"/>
            <a:ext cx="2788920" cy="3566160"/>
          </a:xfrm>
          <a:prstGeom prst="roundRect">
            <a:avLst>
              <a:gd name="adj" fmla="val 2623"/>
            </a:avLst>
          </a:prstGeom>
          <a:solidFill>
            <a:srgbClr val="E8F5E9"/>
          </a:solidFill>
          <a:ln w="9525">
            <a:solidFill>
              <a:srgbClr val="1B5E20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27648" y="1572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12280" y="161848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 &amp; Condition Analysis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2084832"/>
            <a:ext cx="2788920" cy="274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Text 27"/>
          <p:cNvSpPr/>
          <p:nvPr/>
        </p:nvSpPr>
        <p:spPr>
          <a:xfrm>
            <a:off x="6327648" y="2157984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prepared for trend detection and seasonal insights.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 &amp; posting_period breakdown included.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3291840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B5E2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monthly_trends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644384" y="3291840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B5E2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seasonal_patterns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3621024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B5E2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condition_mix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644384" y="3621024"/>
            <a:ext cx="12435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1B5E20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price_by_condition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818888"/>
            <a:ext cx="8412480" cy="29260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tables stored as PARQUET · Partitioned for query performance · enableHiveSupport() in Spark Session · Single CSV export via coalesce(1) for Tableau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&amp; Streaming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228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5284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4358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12618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 land in a Databricks Volume — cloud object storage mounted to the cluster.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5284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5798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96112" y="21762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 (cloudFiles)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reads new files incrementally using Auto Loader — no manual file tracking needed.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5284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7238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96112" y="30906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DLT Table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multiline CSV data ingested as a streaming table: gdrive_bronze_raw.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502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5284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8678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40050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Kafka Sink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4251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dlt.create_sink() pushes records as JSON to topic gdrive-csv-stream-topic via SASL/SSL.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868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2070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52842"/>
          </a:solidFill>
          <a:ln w="19050">
            <a:solidFill>
              <a:srgbClr val="F490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24358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76672" y="12618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Source Read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76672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reads from Confluent — startingOffsets: latest.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1214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52842"/>
          </a:solidFill>
          <a:ln w="19050">
            <a:solidFill>
              <a:srgbClr val="F490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15798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76672" y="21762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76672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from_json() with explicit StructType — 25 typed fields parsed from JSON payload.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0358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52842"/>
          </a:solidFill>
          <a:ln w="19050">
            <a:solidFill>
              <a:srgbClr val="F490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07238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76672" y="30906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DLT Table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76672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fillna, price_quality_status (ZERO/SUSPECT_LOW/HIGH/VALID), listing_quality_score (0–5).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95020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52842"/>
          </a:solidFill>
          <a:ln w="19050">
            <a:solidFill>
              <a:srgbClr val="F490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98678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76672" y="40050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Aggregation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76672" y="4251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groupBy(manufacturer, state, price_quality_status) → count, avg price, avg mileage, last_updated.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15968" y="1170432"/>
            <a:ext cx="502920" cy="3611880"/>
          </a:xfrm>
          <a:prstGeom prst="rect">
            <a:avLst/>
          </a:prstGeom>
          <a:solidFill>
            <a:srgbClr val="152842"/>
          </a:solidFill>
          <a:ln/>
        </p:spPr>
      </p:sp>
      <p:sp>
        <p:nvSpPr>
          <p:cNvPr id="40" name="Text 38"/>
          <p:cNvSpPr/>
          <p:nvPr/>
        </p:nvSpPr>
        <p:spPr>
          <a:xfrm rot="16200000">
            <a:off x="4261104" y="2816352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152842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7914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Near Real-Time Market Visibility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14600" y="47914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Cloud-Native Scalability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47914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Decoupled Producer / Consumer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95160" y="47914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Windowed Aggregations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— Apache Airflow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and schedules the full pipeline lifecycle end-to-end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229600" cy="2286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70432"/>
            <a:ext cx="1261872" cy="685800"/>
          </a:xfrm>
          <a:prstGeom prst="roundRect">
            <a:avLst>
              <a:gd name="adj" fmla="val 8000"/>
            </a:avLst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38988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3080" y="1170432"/>
            <a:ext cx="1261872" cy="6858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207008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138988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170432"/>
            <a:ext cx="1261872" cy="685800"/>
          </a:xfrm>
          <a:prstGeom prst="roundRect">
            <a:avLst>
              <a:gd name="adj" fmla="val 8000"/>
            </a:avLst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07008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138988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170432"/>
            <a:ext cx="1261872" cy="685800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207008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138988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170432"/>
            <a:ext cx="1261872" cy="685800"/>
          </a:xfrm>
          <a:prstGeom prst="roundRect">
            <a:avLst>
              <a:gd name="adj" fmla="val 8000"/>
            </a:avLst>
          </a:prstGeom>
          <a:solidFill>
            <a:srgbClr val="F4900C"/>
          </a:solidFill>
          <a:ln w="12700">
            <a:solidFill>
              <a:srgbClr val="F490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07008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52360" y="138988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1170432"/>
            <a:ext cx="1261872" cy="685800"/>
          </a:xfrm>
          <a:prstGeom prst="roundRect">
            <a:avLst>
              <a:gd name="adj" fmla="val 8000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1207008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1883664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176272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E3F2FD"/>
          </a:solidFill>
          <a:ln w="9525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9768" y="22494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14400" y="228600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Dependencies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2743200"/>
            <a:ext cx="2788920" cy="228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" y="28163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DAGs with clear task dependency graphs and SLA checks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" y="33284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Cron-based scheduling: daily batch runs and on-demand triggers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" y="38404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Task-level retries with exponential backoff on failure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9768" y="435254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Cross-pipeline dependencies tracked via XCom and Sensors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64408" y="2176272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FFEBEE"/>
          </a:solidFill>
          <a:ln w="9525">
            <a:solidFill>
              <a:srgbClr val="B71C1C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74136" y="22494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858768" y="228600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Observability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64408" y="2743200"/>
            <a:ext cx="2788920" cy="2286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6" name="Text 34"/>
          <p:cNvSpPr/>
          <p:nvPr/>
        </p:nvSpPr>
        <p:spPr>
          <a:xfrm>
            <a:off x="3374136" y="28163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&amp; Slack alerts on task failure or SLA breach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74136" y="33284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task logs accessible from Airflow UI for debugging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74136" y="38404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Dead-letter handling for bad Kafka messages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74136" y="435254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health tracked via custom metrics and log dashboards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08776" y="2176272"/>
            <a:ext cx="2788920" cy="2788920"/>
          </a:xfrm>
          <a:prstGeom prst="roundRect">
            <a:avLst>
              <a:gd name="adj" fmla="val 2623"/>
            </a:avLst>
          </a:prstGeom>
          <a:solidFill>
            <a:srgbClr val="E8F5E9"/>
          </a:solidFill>
          <a:ln w="9525">
            <a:solidFill>
              <a:srgbClr val="1B5E20"/>
            </a:solidFill>
            <a:prstDash val="solid"/>
          </a:ln>
          <a:effectLst>
            <a:outerShdw sx="100000" sy="100000" kx="0" ky="0" algn="bl" rotWithShape="0" blurRad="76200" dist="25400" dir="2700000">
              <a:srgbClr val="C5CAD0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18504" y="22494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803136" y="228600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08776" y="2743200"/>
            <a:ext cx="2788920" cy="228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4" name="Text 42"/>
          <p:cNvSpPr/>
          <p:nvPr/>
        </p:nvSpPr>
        <p:spPr>
          <a:xfrm>
            <a:off x="6318504" y="28163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Parameterised jobs via Airflow Variables and Connections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18504" y="33284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 promotion: dev → staging → prod configurations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18504" y="38404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Runbook integration and self-service re-run capability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18504" y="435254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containerised workers for consistent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Dashboards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2286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297680" cy="2468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822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Intelligence Dashboard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15568"/>
            <a:ext cx="4023360" cy="2468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3703320"/>
            <a:ext cx="1316736" cy="804672"/>
          </a:xfrm>
          <a:prstGeom prst="roundRect">
            <a:avLst>
              <a:gd name="adj" fmla="val 6818"/>
            </a:avLst>
          </a:prstGeom>
          <a:solidFill>
            <a:srgbClr val="152842"/>
          </a:solidFill>
          <a:ln w="12700">
            <a:solidFill>
              <a:srgbClr val="F4900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374904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2,42,979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11480" y="4133088"/>
            <a:ext cx="1225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Listings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801368" y="3703320"/>
            <a:ext cx="1316736" cy="804672"/>
          </a:xfrm>
          <a:prstGeom prst="roundRect">
            <a:avLst>
              <a:gd name="adj" fmla="val 6818"/>
            </a:avLst>
          </a:prstGeom>
          <a:solidFill>
            <a:srgbClr val="152842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47088" y="374904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$15,365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847088" y="4133088"/>
            <a:ext cx="1225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Market Price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236976" y="3703320"/>
            <a:ext cx="1316736" cy="804672"/>
          </a:xfrm>
          <a:prstGeom prst="roundRect">
            <a:avLst>
              <a:gd name="adj" fmla="val 6818"/>
            </a:avLst>
          </a:prstGeom>
          <a:solidFill>
            <a:srgbClr val="152842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82696" y="374904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$10,999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282696" y="4133088"/>
            <a:ext cx="1225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672584" y="3703320"/>
            <a:ext cx="1316736" cy="804672"/>
          </a:xfrm>
          <a:prstGeom prst="roundRect">
            <a:avLst>
              <a:gd name="adj" fmla="val 6818"/>
            </a:avLst>
          </a:prstGeom>
          <a:solidFill>
            <a:srgbClr val="152842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18304" y="374904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107,376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718304" y="4133088"/>
            <a:ext cx="1225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Mileage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108192" y="3703320"/>
            <a:ext cx="1316736" cy="804672"/>
          </a:xfrm>
          <a:prstGeom prst="roundRect">
            <a:avLst>
              <a:gd name="adj" fmla="val 6818"/>
            </a:avLst>
          </a:prstGeom>
          <a:solidFill>
            <a:srgbClr val="152842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53912" y="374904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 yrs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6153912" y="4133088"/>
            <a:ext cx="1225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Vehicle Age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7543800" y="3703320"/>
            <a:ext cx="1316736" cy="804672"/>
          </a:xfrm>
          <a:prstGeom prst="roundRect">
            <a:avLst>
              <a:gd name="adj" fmla="val 6818"/>
            </a:avLst>
          </a:prstGeom>
          <a:solidFill>
            <a:srgbClr val="152842"/>
          </a:solidFill>
          <a:ln w="12700">
            <a:solidFill>
              <a:srgbClr val="F4900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89520" y="374904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589520" y="4133088"/>
            <a:ext cx="1225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65760" y="45720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65760" y="4773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Ford leads with 40,650 listings (16.7% share)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3264408" y="4773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Gas fuel dominates at 88.2%; EV only 0.3%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163056" y="4773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April peak: 164,906 listings vs 78,073 in May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65760" y="5029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Ferrari avg $87.8K; Hybrid avg $12.8K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3264408" y="5029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New cars avg $26.8K vs Salvage $3.7K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6163056" y="5029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"Unknown" condition = 39.7% — data quality gap identified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731520"/>
            <a:ext cx="8229600" cy="2286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778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9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54864" cy="27432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30759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End‑to‑end Medallion Architecture (Bronze → Silver → Featured → Gold)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54864" cy="27432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78308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Spark ETL with advanced null imputation &amp; feature engineering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49424"/>
            <a:ext cx="54864" cy="27432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25856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External Data Warehouse with Parquet partitioning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24912"/>
            <a:ext cx="54864" cy="27432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273405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Kafka + DLT streaming pipeline on Databricks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54864" cy="27432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320954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 orchestration with retry, alerts &amp; SLA tracking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54864" cy="27432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368503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dashboards: Executive + Price Intelligence views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151376"/>
            <a:ext cx="54864" cy="274320"/>
          </a:xfrm>
          <a:prstGeom prst="rect">
            <a:avLst/>
          </a:prstGeom>
          <a:solidFill>
            <a:srgbClr val="F4900C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416052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242K+ listings processed across 50 US states, 43 manufacturers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8778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Steps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129844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15284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344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0" y="135331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Delta Lake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1572768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HDFS storage to S3 and adopt Delta format for ACID transactions and time-travel.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99339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15284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20640" y="204825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Price Prediction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2267712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regression model on engineered features to predict fair market value in real time.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68833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15284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734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20640" y="274320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 / Flink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2962656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Iceberg for table format evolution and Flink for lower-latency streaming.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38328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15284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20640" y="3438144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657600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Spark jobs and Airflow workers for reproducible, cloud-agnostic deployments.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407822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152842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20640" y="413308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Pipelines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4352544"/>
            <a:ext cx="3520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testing, linting, and promotion workflows for robust pipeline delivery.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 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2026-08-15T17:54:13Z</dcterms:created>
  <dcterms:modified xsi:type="dcterms:W3CDTF">2026-08-15T17:54:13Z</dcterms:modified>
</cp:coreProperties>
</file>